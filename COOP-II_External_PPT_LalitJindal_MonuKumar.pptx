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Times New Roman"/>
                <a:cs typeface="Times New Roman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</a:pPr>
            <a:r>
              <a:rPr lang="en-US" sz="2000">
                <a:latin typeface="Times New Roman"/>
                <a:cs typeface="Times New Roman"/>
              </a:rPr>
              <a:t>On</a:t>
            </a:r>
          </a:p>
          <a:p>
            <a:pPr algn="ctr">
              <a:lnSpc>
                <a:spcPct val="100000"/>
              </a:lnSpc>
            </a:pPr>
            <a:endParaRPr lang="en-US" sz="2000"/>
          </a:p>
          <a:p>
            <a:pPr algn="ctr">
              <a:lnSpc>
                <a:spcPct val="100000"/>
              </a:lnSpc>
            </a:pPr>
            <a:r>
              <a:rPr lang="en-US" sz="2800" b="1">
                <a:latin typeface="Times New Roman"/>
                <a:cs typeface="Times New Roman"/>
              </a:rPr>
              <a:t>High-Throughput Apache Spark Structured Streaming Optimization in Resource-Constrained Edge and Cloud Environments</a:t>
            </a:r>
          </a:p>
          <a:p>
            <a:pPr algn="ctr">
              <a:lnSpc>
                <a:spcPct val="100000"/>
              </a:lnSpc>
            </a:pPr>
            <a:endParaRPr lang="en-US" sz="2000"/>
          </a:p>
          <a:p>
            <a:pPr algn="ctr">
              <a:lnSpc>
                <a:spcPct val="100000"/>
              </a:lnSpc>
            </a:pPr>
            <a:r>
              <a:rPr lang="en-US" sz="2000">
                <a:latin typeface="Times New Roman"/>
                <a:cs typeface="Times New Roman"/>
              </a:rPr>
              <a:t>Lalit Jindal (2210991847)</a:t>
            </a:r>
          </a:p>
          <a:p>
            <a:pPr algn="ctr">
              <a:lnSpc>
                <a:spcPct val="100000"/>
              </a:lnSpc>
            </a:pPr>
            <a:r>
              <a:rPr lang="en-US" sz="2000">
                <a:latin typeface="Times New Roman"/>
                <a:cs typeface="Times New Roman"/>
              </a:rPr>
              <a:t>Monu Kumar (2210990583)</a:t>
            </a:r>
          </a:p>
          <a:p>
            <a:pPr algn="ctr">
              <a:lnSpc>
                <a:spcPct val="100000"/>
              </a:lnSpc>
            </a:pPr>
            <a:endParaRPr lang="en-US" sz="2000"/>
          </a:p>
          <a:p>
            <a:pPr algn="ctr">
              <a:lnSpc>
                <a:spcPct val="100000"/>
              </a:lnSpc>
            </a:pPr>
            <a:r>
              <a:rPr lang="en-US" sz="2000">
                <a:latin typeface="Times New Roman"/>
                <a:cs typeface="Times New Roman"/>
              </a:rPr>
              <a:t>Supervised By</a:t>
            </a:r>
          </a:p>
          <a:p>
            <a:pPr algn="ctr">
              <a:lnSpc>
                <a:spcPct val="100000"/>
              </a:lnSpc>
            </a:pPr>
            <a:r>
              <a:rPr lang="en-US" sz="2000" b="1">
                <a:latin typeface="Times New Roman"/>
                <a:cs typeface="Times New Roman"/>
              </a:rPr>
              <a:t>Dr. Swati Goel</a:t>
            </a:r>
          </a:p>
          <a:p>
            <a:pPr algn="ctr">
              <a:lnSpc>
                <a:spcPct val="100000"/>
              </a:lnSpc>
            </a:pPr>
            <a:r>
              <a:rPr lang="en-US" sz="2000">
                <a:latin typeface="Times New Roman"/>
                <a:cs typeface="Times New Roman"/>
              </a:rPr>
              <a:t>Assistant Professor</a:t>
            </a:r>
          </a:p>
          <a:p>
            <a:pPr algn="ctr">
              <a:lnSpc>
                <a:spcPct val="100000"/>
              </a:lnSpc>
            </a:pPr>
            <a:endParaRPr lang="en-US" sz="2000"/>
          </a:p>
          <a:p>
            <a:pPr algn="ctr">
              <a:lnSpc>
                <a:spcPct val="100000"/>
              </a:lnSpc>
            </a:pPr>
            <a:endParaRPr lang="en-US" sz="2000"/>
          </a:p>
          <a:p>
            <a:pPr algn="ctr">
              <a:lnSpc>
                <a:spcPct val="100000"/>
              </a:lnSpc>
            </a:pPr>
            <a:r>
              <a:rPr lang="en-US" sz="2200">
                <a:latin typeface="Times New Roman"/>
                <a:cs typeface="Times New Roman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</a:pPr>
            <a:r>
              <a:rPr lang="en-US" sz="2200">
                <a:latin typeface="Times New Roman"/>
                <a:cs typeface="Times New Roman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Shift from batch analytics to real-time, continuous event-stream processing is now an operational requirement across industries.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Apache Spark Structured Streaming: unified declarative API on Catalyst + Tungsten, delivers exactly-once fault tolerance.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Default configurations fail on resource-constrained edge appliances, IoT gateways, and cost-capped cloud tiers.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Without backpressure, ingestion outruns processing — heap exhaustion in minutes under bursty load.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Goal: a layered optimization blueprint that sustains low latency and high throughput without horizontal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Problem Statement &amp; 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Bursty micro-batch demand + no built-in throttling → OOM crashes under sustained load.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Stateful enrichment, GC pauses, and metadata compaction stalls compound the failure mode.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Objective 1: Decompose OOM failure vectors and derive mathematical mitigation strategies.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Objective 2: Evaluate backpressure, RocksDB off-heap state, GC algorithms, AQE, and Delta Lake sinks.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Objective 3: Quantify before-vs-after gains across latency, throughput, and memory stability.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Layered, defense-in-depth approach — each subsystem optimized independently and composed together.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Phase 1: Characterize failure vectors on default Structured Streaming pipelines.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Phase 2: Derive mitigation strategies grounded in the Spark unified memory model.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Phase 3: Implement each mitigation; measure isolated impact on latency, GC, and stability.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Phase 4: Compose mitigations into a single blueprint; validate against published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Spark Unified Memory Model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Unified region: M_unified = (JVM Heap − 300 MiB) × spark.memory.fraction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Default fraction 0.6; storageFraction 0.5 protects cached data from eviction.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Three OOM pathways: Executor Heap Exhaustion, Driver Memory Exhaustion, Container/Pod Eviction (Exit 137).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Each pathway has distinct diagnostic signatures and demands a different remediation class.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Container eviction is the failure vector most often misdiagnosed in RocksDB deployments.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Backpressure &amp; Ingestion Governance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Kafka: maxOffsetsPerTrigger = 1000 caps records per micro-batch — predictable memory footprint.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File sources: maxFilesPerTrigger + maxBytesPerTrigger give two-dimensional backpressure protection.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JDBC: dynamic partition chunking — B = (V_max − V_min) / floor(N / T)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Trigger modes: Default (max throughput), Fixed Interval (predictable), AvailableNow (cost-optimal batch).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Aggressively tuned 100–200 ms intervals + strict offset limits prevent unbounded backlog accumulation.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RocksDB Off-Heap State Store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Default HDFS-backed state store: in-heap hash maps → prolonged GC pauses at high cardinality.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RocksDB: memtables, block caches, bloom filters all off-heap — invisible to JVM GC.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LSM-tree architecture enables incremental SST-file checkpointing instead of full snapshots.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Changelog checkpointing: ~2.6× faster checkpoint duration, ~2.9× faster recovery (Databricks).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Safe container sizing: M_container = M_heap + M_overhead (e.g., 12 GB = 8 GB heap + 4 GB overhead).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Project Lightspeed: transformWithState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Spark 4.0 supersedes flatMapGroupsWithState with the transformWithState API.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Composite state types: ValueState, ListState, MapState — enable point-level reads/appends.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No more full read-modify-write of monolithic state objects on every interaction.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Automatic TTL-driven state expiry: GDPR-compliant cleanup without manual purge code.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Measured gains: up to 87% P99 latency reduction on stream aggregations (Databricks benchmark).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Garbage Collection &amp; JVM Tuning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Tungsten manages memory off-heap in compact binary form — drastically fewer objects for GC.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Kryo serializer ≈ 10× faster than Java default; must registerKryoClasses to retain footprint benefit.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G1GC (JDK 17 default): stable; STW pauses can exceed micro-batch intervals on fragmented heaps.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Shenandoah: concurrent evacuation, ultra-low pauses — best fit for bursty streaming workloads.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ZGC: colored pointers, multi-TB heaps; rule of thumb: −Xmn = (3/4) × E_task.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AQE &amp; RoaringBitmap Filtering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AQE re-plans at every shuffle boundary: skew handling, dynamic coalescing, BHJ promotion.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Skew mitigation: AQE auto-splits congested partitions into balanced sub-tasks across cores.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Partition coalescing collapses 200 default shuffle partitions on sparse micro-batches.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RoaringBitmap broadcast: compact bitmap of valid join keys filters records before shuffle.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Result: 30–60% shuffle volume reduction in join-heavy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Sink Optimization with Delta Lake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Default _spark_metadata compaction causes the well-known 10th-batch stall.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Delta Lake replaces it with ACID-compliant _delta_log — stall eliminated entirely.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delta.autoOptimize.optimizeWrite redistributes data for optimally sized output files.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delta.autoOptimize.autoCompact merges small files asynchronously after each micro-batch.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Periodic OPTIMIZE + VACUUM keep storage healthy without interrupting the streaming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Tools &amp; Technologies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Apache Spark 4.0 (JDK 17) — Catalyst optimizer + Tungsten binary execution.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RocksDB embedded key-value store — off-heap state backend.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Apache Kafka — partitioned, append-only log source with maxOffsetsPerTrigger backpressure.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Delta Lake — ACID sink, time-travel, autoOptimize properties.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Garbage collectors evaluated: G1GC, Shenandoah, ZGC. Cluster managers: YARN and Kubernetes.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Results: Latency &amp; Throughput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End-to-end P95 latency: 500–2000 ms → 50–200 ms (75–90% reduction).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Stateful operation P99 latency: up to 87% reduction with Project Lightspeed.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GC pause duration: 50–500 ms → &lt; 10 ms (&gt;95% reduction with Shenandoah/ZGC).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Peak throughput approaches 16M complex events/sec on 10-node clusters (YSB-style workload).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Continuous Processing not recommended on constrained hardware — 2–3× higher sustained CPU.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Results: Stability &amp; Efficiency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Memory stability: previously OOM in 10–30 min → sustained stable operation under bursty load.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State checkpoint duration: ~2.6× faster via changelog checkpointing.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State recovery time: ~2.9× faster (replay delta changes only).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10th-batch metadata compaction stall: 100% eliminated after Delta Lake migration.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Shuffle volume (join-heavy pipelines): 30–60% reduction via RoaringBitmap pre-filtering.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Default Structured Streaming configurations fail predictably under sustained load on constrained hardware.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Layered approach is non-negotiable: backpressure, off-heap state, GC tuning, AQE, Delta sinks.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transformWithState + RocksDB + Delta Lake form the modern stack for Spark 4.0 streaming.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Configuration discipline substitutes effectively for horizontal cluster scaling.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All gains achieved with zero additional executor nodes — capacity from engineering, not infrastructure.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endParaRPr lang="en-US" sz="2000"/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Reinforcement learning for self-tuning backpressure based on real-time cluster telemetry.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Intel Optane PMem as RocksDB storage backend on edge nodes.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Formal verification of exactly-once semantics across edge-cloud multi-cluster topologies.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Energy-efficiency (joules-per-event) metrics for green streaming on battery-bound IoT devices.</a:t>
            </a:r>
          </a:p>
          <a:p>
            <a:pPr algn="l" marL="457200" indent="-317500">
              <a:buChar char="•"/>
              <a:lnSpc>
                <a:spcPct val="100000"/>
              </a:lnSpc>
            </a:pPr>
            <a:r>
              <a:rPr lang="en-US" sz="1800">
                <a:latin typeface="Times New Roman"/>
                <a:cs typeface="Times New Roman"/>
              </a:rPr>
              <a:t>Production-grade evaluation of Databricks Real-Time Mode vs. the optimized micro-batch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2299</cp:revision>
  <dcterms:created xsi:type="dcterms:W3CDTF">2010-04-09T07:36:15Z</dcterms:created>
  <dcterms:modified xsi:type="dcterms:W3CDTF">2026-05-14T04:26:31Z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